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316" r:id="rId7"/>
    <p:sldId id="261" r:id="rId8"/>
    <p:sldId id="318" r:id="rId9"/>
    <p:sldId id="265" r:id="rId10"/>
    <p:sldId id="258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259" r:id="rId49"/>
    <p:sldId id="306" r:id="rId50"/>
    <p:sldId id="304" r:id="rId51"/>
    <p:sldId id="305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13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814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678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861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40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166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93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86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3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621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480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68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B5D2-CA2A-6548-955E-9897154AE4E2}" type="datetimeFigureOut">
              <a:rPr lang="it-IT" smtClean="0"/>
              <a:t>26/11/2025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75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emf"/><Relationship Id="rId7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2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emf"/><Relationship Id="rId7" Type="http://schemas.openxmlformats.org/officeDocument/2006/relationships/image" Target="../media/image3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emf"/><Relationship Id="rId7" Type="http://schemas.openxmlformats.org/officeDocument/2006/relationships/image" Target="../media/image5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7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10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/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9" name="CasellaDiTesto 1"/>
          <p:cNvSpPr txBox="1">
            <a:spLocks noChangeArrowheads="1"/>
          </p:cNvSpPr>
          <p:nvPr/>
        </p:nvSpPr>
        <p:spPr bwMode="auto">
          <a:xfrm>
            <a:off x="1158108" y="2134791"/>
            <a:ext cx="714043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 dirty="0"/>
              <a:t>IDENTIFICAZIONE DEI SISTEMI INCERTI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3AB661-578E-0760-E93F-93FC0A3563B8}"/>
              </a:ext>
            </a:extLst>
          </p:cNvPr>
          <p:cNvSpPr txBox="1"/>
          <p:nvPr/>
        </p:nvSpPr>
        <p:spPr>
          <a:xfrm>
            <a:off x="2223747" y="2659339"/>
            <a:ext cx="562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DRONE VINCOLATO DA UNA BARRA RIGIDA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816024-E0D4-78F7-5B92-17375A4A31E5}"/>
              </a:ext>
            </a:extLst>
          </p:cNvPr>
          <p:cNvSpPr txBox="1"/>
          <p:nvPr/>
        </p:nvSpPr>
        <p:spPr>
          <a:xfrm>
            <a:off x="5777981" y="5666120"/>
            <a:ext cx="415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Candidato: Piero Campitelli</a:t>
            </a:r>
          </a:p>
        </p:txBody>
      </p:sp>
    </p:spTree>
    <p:extLst>
      <p:ext uri="{BB962C8B-B14F-4D97-AF65-F5344CB8AC3E}">
        <p14:creationId xmlns:p14="http://schemas.microsoft.com/office/powerpoint/2010/main" val="298674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65A3-3BE0-6FFC-2D9E-346B984E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8D71707D-229B-67BE-67CD-857D5259CA0D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074D60C-FF18-5811-707D-0A640FEAD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CD80E5F-6E71-9781-60F0-516E74BB9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F49B9AB-CD2C-7666-250B-4AB4FCDB2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33" y="660570"/>
            <a:ext cx="4898004" cy="272695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CD14D5-A8BE-780A-1820-B839BDC63F9C}"/>
              </a:ext>
            </a:extLst>
          </p:cNvPr>
          <p:cNvSpPr txBox="1"/>
          <p:nvPr/>
        </p:nvSpPr>
        <p:spPr>
          <a:xfrm>
            <a:off x="206733" y="134693"/>
            <a:ext cx="67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IL SISTEMA: DRONE VINCOLATO DA UNA BARRA RIGIDA</a:t>
            </a:r>
          </a:p>
        </p:txBody>
      </p:sp>
    </p:spTree>
    <p:extLst>
      <p:ext uri="{BB962C8B-B14F-4D97-AF65-F5344CB8AC3E}">
        <p14:creationId xmlns:p14="http://schemas.microsoft.com/office/powerpoint/2010/main" val="247951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6519-1FB9-56DA-DEA2-4C39E968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CF0715BC-B73A-BD83-110A-B142497C25F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4760330-158D-7C7A-D163-6884BD22E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6BB23D3-09D1-C370-E0B4-7866E30C9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DD01671-38E8-2522-1061-510179A64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33" y="660570"/>
            <a:ext cx="4898004" cy="272695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CC9801-8B08-C7A4-779E-1B4F1E2CAFAC}"/>
              </a:ext>
            </a:extLst>
          </p:cNvPr>
          <p:cNvSpPr txBox="1"/>
          <p:nvPr/>
        </p:nvSpPr>
        <p:spPr>
          <a:xfrm>
            <a:off x="206733" y="134693"/>
            <a:ext cx="67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IL SISTEMA: DRONE VINCOLATO DA UNA BARRA RIGIDA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EF3E34-B249-701E-7FC5-EDD7A8D63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737" y="1789122"/>
            <a:ext cx="3270129" cy="48566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682E926-6A63-69A6-380A-F077C8B71186}"/>
              </a:ext>
            </a:extLst>
          </p:cNvPr>
          <p:cNvSpPr txBox="1"/>
          <p:nvPr/>
        </p:nvSpPr>
        <p:spPr>
          <a:xfrm>
            <a:off x="5104737" y="1278374"/>
            <a:ext cx="4715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Il modello dinamico: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13BAD6C-783C-DE69-3E30-94E9CE7AC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563" y="2456571"/>
            <a:ext cx="4115704" cy="167452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7EB0E7E-B414-62F5-6411-4AEE25ADC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53" y="4131098"/>
            <a:ext cx="3251598" cy="76749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D5D73FC2-A777-6FBA-99A2-330DDA9017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1410" y="4131098"/>
            <a:ext cx="5118738" cy="198088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B4E2B543-7234-7037-7C88-D4DCC6F15F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733" y="5163275"/>
            <a:ext cx="2933372" cy="76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2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95C45-C2A6-8EED-860B-4DBE3194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E544C427-B8F5-2452-0988-348DC2B9DE32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263751A-EB78-A975-63F5-2E11F971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CB41201-052E-AB2D-DEEE-1DDD28887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9B1BAD6-700D-829D-946C-5440F41BCF90}"/>
              </a:ext>
            </a:extLst>
          </p:cNvPr>
          <p:cNvSpPr txBox="1"/>
          <p:nvPr/>
        </p:nvSpPr>
        <p:spPr>
          <a:xfrm>
            <a:off x="206733" y="134693"/>
            <a:ext cx="67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IL SISTEMA: DRONE VINCOLATO DA UNA BARRA RIGIDA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225A13-5440-B510-C004-6BBAAFA5C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8" y="597550"/>
            <a:ext cx="4024068" cy="104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8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283C-8E78-1FB8-841C-36FA2C40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0DD70127-C232-6542-4115-254B78CBF53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5CC6C994-96FC-1FF5-F0E6-FF5074914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15EC0C0-C597-B73E-6C18-609F3511D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FF9B923-E888-8B6D-26E6-A12E88EB5BA7}"/>
              </a:ext>
            </a:extLst>
          </p:cNvPr>
          <p:cNvSpPr txBox="1"/>
          <p:nvPr/>
        </p:nvSpPr>
        <p:spPr>
          <a:xfrm>
            <a:off x="206733" y="134693"/>
            <a:ext cx="67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IL SISTEMA: DRONE VINCOLATO DA UNA BARRA RIGIDA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FD38E70B-1756-17C9-B63B-489E4A795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8" y="597550"/>
            <a:ext cx="4024068" cy="104942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1DA223-B2C9-08F6-FA51-8BB3F86FD037}"/>
              </a:ext>
            </a:extLst>
          </p:cNvPr>
          <p:cNvSpPr txBox="1"/>
          <p:nvPr/>
        </p:nvSpPr>
        <p:spPr>
          <a:xfrm>
            <a:off x="277588" y="2046216"/>
            <a:ext cx="420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Parametri del sistema: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97F3CCC-2CBB-BAC5-DE1C-8D72CD077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33" y="2541315"/>
            <a:ext cx="6125430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904F-5128-8B3E-A1C8-CD02AC9B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B38BA81-691B-1ECC-F78F-E3E540AF10F4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ABE5C37B-BB10-5833-4F82-2BCE948B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E20CAF2D-9D04-6AC8-16C0-D7504935D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3F1096-4745-5528-B83A-8C201EB702BC}"/>
              </a:ext>
            </a:extLst>
          </p:cNvPr>
          <p:cNvSpPr txBox="1"/>
          <p:nvPr/>
        </p:nvSpPr>
        <p:spPr>
          <a:xfrm>
            <a:off x="206733" y="134693"/>
            <a:ext cx="671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 SENSORI</a:t>
            </a:r>
          </a:p>
          <a:p>
            <a:endParaRPr lang="it-IT" sz="2000" b="1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0C4013-BE22-CC70-30A0-6D87544AC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682" y="2387170"/>
            <a:ext cx="4554757" cy="253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7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8D49-749C-D333-DE5D-16BE83AF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2A10DDF4-70AD-A76F-9E9E-4F6166640942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E12D120-3A10-AB5B-C070-A4110EFEB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D3F5363-2561-57B1-7DD8-CCBC7E4AB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1873DB9-B47E-9EF7-B56A-6F7296D7A630}"/>
              </a:ext>
            </a:extLst>
          </p:cNvPr>
          <p:cNvSpPr txBox="1"/>
          <p:nvPr/>
        </p:nvSpPr>
        <p:spPr>
          <a:xfrm>
            <a:off x="206733" y="134693"/>
            <a:ext cx="671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 SENSORI</a:t>
            </a:r>
          </a:p>
          <a:p>
            <a:endParaRPr lang="it-IT" sz="2000" b="1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6F42F21-D902-5AB5-705D-CBED18393EE3}"/>
              </a:ext>
            </a:extLst>
          </p:cNvPr>
          <p:cNvSpPr txBox="1"/>
          <p:nvPr/>
        </p:nvSpPr>
        <p:spPr>
          <a:xfrm>
            <a:off x="206733" y="842579"/>
            <a:ext cx="479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Accelerometri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00951E0A-305E-286B-4919-46728C194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06" y="1261434"/>
            <a:ext cx="1514520" cy="57806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F96F3E71-4488-6C9C-D1F7-23393916D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44" y="1814673"/>
            <a:ext cx="1653647" cy="68902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4E077FF-725F-BDD9-F431-21B7EDFAD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000" y="2635764"/>
            <a:ext cx="4554757" cy="253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96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A0B-FBC0-91C7-7F81-62944D1E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E99A325-83C1-A10C-5BE3-BA09F596AF7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F21EF44-AE5C-BF8F-BB62-8DCB8BE3D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D2A4B93C-0170-E45B-51A8-2182C51E6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6768E52-1401-62EF-C463-A8E6843A2D58}"/>
              </a:ext>
            </a:extLst>
          </p:cNvPr>
          <p:cNvSpPr txBox="1"/>
          <p:nvPr/>
        </p:nvSpPr>
        <p:spPr>
          <a:xfrm>
            <a:off x="206733" y="134693"/>
            <a:ext cx="671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 SENSORI</a:t>
            </a:r>
          </a:p>
          <a:p>
            <a:endParaRPr lang="it-IT" sz="2000" b="1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118B3DB-D781-7689-997A-82179357109F}"/>
              </a:ext>
            </a:extLst>
          </p:cNvPr>
          <p:cNvSpPr txBox="1"/>
          <p:nvPr/>
        </p:nvSpPr>
        <p:spPr>
          <a:xfrm>
            <a:off x="206733" y="842579"/>
            <a:ext cx="479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Accelerometri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17C2A38-1D2D-CE14-1825-4EC0260ED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06" y="1261434"/>
            <a:ext cx="1514520" cy="57806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CAA049B-C18C-B460-E203-4E06A86B2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42" y="1710337"/>
            <a:ext cx="1653647" cy="68902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61D30B-2F14-255D-3E8C-3813DF484652}"/>
              </a:ext>
            </a:extLst>
          </p:cNvPr>
          <p:cNvSpPr txBox="1"/>
          <p:nvPr/>
        </p:nvSpPr>
        <p:spPr>
          <a:xfrm>
            <a:off x="4572000" y="877956"/>
            <a:ext cx="339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Direction</a:t>
            </a:r>
            <a:r>
              <a:rPr lang="it-IT" b="1" dirty="0"/>
              <a:t> of </a:t>
            </a:r>
            <a:r>
              <a:rPr lang="it-IT" b="1" dirty="0" err="1"/>
              <a:t>arrival</a:t>
            </a:r>
            <a:r>
              <a:rPr lang="it-IT" b="1" dirty="0"/>
              <a:t> (DOA)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43366B4-39E0-91A1-EC48-BF9008C64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052" y="1323529"/>
            <a:ext cx="2036018" cy="111578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1C20342-6326-E9A0-C039-AEBC805759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682" y="2387170"/>
            <a:ext cx="4554757" cy="253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EF57-0EA8-0C46-A8F6-856D0EA3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29ACFDF-0406-D08C-1EA8-7D1727857A4A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2501D79C-F4DD-80B7-D707-AADA1B9D8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D66B7C8D-1054-FCE6-5535-D50E50365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24624A-1433-4B6F-13FE-C12DB8D18600}"/>
              </a:ext>
            </a:extLst>
          </p:cNvPr>
          <p:cNvSpPr txBox="1"/>
          <p:nvPr/>
        </p:nvSpPr>
        <p:spPr>
          <a:xfrm>
            <a:off x="206733" y="134693"/>
            <a:ext cx="671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 SENSORI</a:t>
            </a:r>
          </a:p>
          <a:p>
            <a:endParaRPr lang="it-IT" sz="2000" b="1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4F11E70-FB17-9C73-326B-4764FBE7BA77}"/>
              </a:ext>
            </a:extLst>
          </p:cNvPr>
          <p:cNvSpPr txBox="1"/>
          <p:nvPr/>
        </p:nvSpPr>
        <p:spPr>
          <a:xfrm>
            <a:off x="206733" y="842579"/>
            <a:ext cx="479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Accelerometri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4605BD65-F73A-1102-7B48-92F103077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06" y="1261434"/>
            <a:ext cx="1514520" cy="57806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797B3BA-8CDD-0392-A1DB-5A304F99F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42" y="1710337"/>
            <a:ext cx="1653647" cy="68902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8FF93D0-EC1D-D9F9-A693-BAA2E4651973}"/>
              </a:ext>
            </a:extLst>
          </p:cNvPr>
          <p:cNvSpPr txBox="1"/>
          <p:nvPr/>
        </p:nvSpPr>
        <p:spPr>
          <a:xfrm>
            <a:off x="4572000" y="877956"/>
            <a:ext cx="339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Direction</a:t>
            </a:r>
            <a:r>
              <a:rPr lang="it-IT" b="1" dirty="0"/>
              <a:t> of </a:t>
            </a:r>
            <a:r>
              <a:rPr lang="it-IT" b="1" dirty="0" err="1"/>
              <a:t>arrival</a:t>
            </a:r>
            <a:r>
              <a:rPr lang="it-IT" b="1" dirty="0"/>
              <a:t> (DOA)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AB4ACF-C646-2BFA-3D51-3DA9386DB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052" y="1323529"/>
            <a:ext cx="2036018" cy="111578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8E07D5C-6D14-44A8-F350-9AFBB7891E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235" y="4870881"/>
            <a:ext cx="3645206" cy="117081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581348-79CF-31BE-354E-F5C02096D4BA}"/>
              </a:ext>
            </a:extLst>
          </p:cNvPr>
          <p:cNvSpPr txBox="1"/>
          <p:nvPr/>
        </p:nvSpPr>
        <p:spPr>
          <a:xfrm>
            <a:off x="1331841" y="5271620"/>
            <a:ext cx="4245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Vettore delle misure: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FFBBD5C-D18F-0480-6B5C-C365BCCF9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0682" y="2387170"/>
            <a:ext cx="4554757" cy="253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8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BCAD-BAA6-02A3-9247-F7729AFA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364A197-DDCA-7503-90D7-6094452A9623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AB44CCA-63D6-74E9-AF80-AD66DE011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0566A5E-1C90-2E8D-10F5-441489836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8C51B87-7CA2-3BC7-A8AA-B70DBCF61530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3794EF1-71C2-B483-FA0A-CB1E0B6869B9}"/>
              </a:ext>
            </a:extLst>
          </p:cNvPr>
          <p:cNvSpPr txBox="1"/>
          <p:nvPr/>
        </p:nvSpPr>
        <p:spPr>
          <a:xfrm>
            <a:off x="675861" y="1279804"/>
            <a:ext cx="3578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Prima simulazione</a:t>
            </a:r>
          </a:p>
          <a:p>
            <a:endParaRPr lang="it-IT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D69C1264-A311-336C-EE14-1A136A5E6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443" y="1926135"/>
            <a:ext cx="601111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9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3FF0-92BD-7D60-0616-331E8CA8D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0D535AD-5310-A281-B9DF-83A435B8AEA1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D0681C9-5779-AE58-EB6B-460B58BB0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E1498DDE-5D6E-62AF-20AE-046212539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2E76EF-6495-547A-AD98-EA2572879DD1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AD8C32-4375-49F1-2D2B-32DDBA0A714B}"/>
              </a:ext>
            </a:extLst>
          </p:cNvPr>
          <p:cNvSpPr txBox="1"/>
          <p:nvPr/>
        </p:nvSpPr>
        <p:spPr>
          <a:xfrm>
            <a:off x="675861" y="1279804"/>
            <a:ext cx="3578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 simulazione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6966472-7987-7C72-E1B1-21F4C5F59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210" y="2051902"/>
            <a:ext cx="5963482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2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C40D-228B-9807-276E-607D6601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FAA05EF-1A66-CAB1-5F50-601314B975B8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C9E42F3-A988-BE9D-999A-2A25E01B9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36126D7B-CE7A-DEBB-FF74-D2CEF6D9C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B726C5-12C9-A6AB-A4AA-131085FC1825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A25A738-FAE0-591F-DBB9-2AD14BC17F20}"/>
              </a:ext>
            </a:extLst>
          </p:cNvPr>
          <p:cNvSpPr txBox="1"/>
          <p:nvPr/>
        </p:nvSpPr>
        <p:spPr>
          <a:xfrm>
            <a:off x="675861" y="1279804"/>
            <a:ext cx="452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Terza simulazione – caso senza smorzamento</a:t>
            </a:r>
          </a:p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C18A900-A719-3778-6330-D173F1222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000" y="1926135"/>
            <a:ext cx="606827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53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1D50-5990-C7EB-9F5D-9400F187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3F2C5DD-F427-205D-99DE-FB35382F4028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E495ACB-C784-3641-AF2C-94066A6C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D03858D-EC6A-48B9-DAC5-559695A71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611A222-B3E2-163D-65F0-D033252BE4E7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93262B6-C047-8B9C-8363-2C35887EA654}"/>
              </a:ext>
            </a:extLst>
          </p:cNvPr>
          <p:cNvSpPr txBox="1"/>
          <p:nvPr/>
        </p:nvSpPr>
        <p:spPr>
          <a:xfrm>
            <a:off x="675861" y="1279804"/>
            <a:ext cx="452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Terza simulazione – caso con smorzamento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397EDC7-7EB8-5B7E-9DBB-E9B43E29E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01" y="1832336"/>
            <a:ext cx="5896798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87B8-5476-C63E-E3AF-26ABCE73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50495D66-D8EC-98EC-AEE1-8CF7E3AEB779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3EB43C3-F3C3-8E3C-4CF9-8B8BD9B2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45AE0CC-55D4-A131-2E79-9AC2C7078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F934B6-47D1-FED9-17E8-C0B74CFA2D74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0D0EBED-3EBC-D356-B3DE-5B4D1E31E823}"/>
              </a:ext>
            </a:extLst>
          </p:cNvPr>
          <p:cNvSpPr txBox="1"/>
          <p:nvPr/>
        </p:nvSpPr>
        <p:spPr>
          <a:xfrm>
            <a:off x="675861" y="1279804"/>
            <a:ext cx="452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Quarta simulazione</a:t>
            </a:r>
          </a:p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961B0D5-B07B-A0F9-D344-5204F8E99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986" y="1722239"/>
            <a:ext cx="5868027" cy="433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75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9EAE-F1E1-AB17-F992-59CD198F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00BB0E23-D3DD-2E27-3676-C7F5ED061906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A816BA6-363F-0076-6E06-04F62A3FA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E7751271-7E91-18D9-4FF4-D84736D3E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ED49B5-6CCC-7AC3-D6A8-3F6D48D91013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DEL MODELLO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2498FE-CC24-963E-CAA4-6566EFFA509C}"/>
              </a:ext>
            </a:extLst>
          </p:cNvPr>
          <p:cNvSpPr txBox="1"/>
          <p:nvPr/>
        </p:nvSpPr>
        <p:spPr>
          <a:xfrm>
            <a:off x="675861" y="1279804"/>
            <a:ext cx="452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Quinta simulazione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A0ABBE-7F17-5C16-A550-7418E4EF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574" y="1826074"/>
            <a:ext cx="6096851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0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CE49-1D83-ABFB-FF55-D96A55F52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29CC026A-2593-367A-598E-D5D9A3839ED6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92A7F3A-9E30-3837-3BC7-C8AB60CBC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21069E9-E8D2-4CA8-774B-297395249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EDB4592-DEC9-074B-7639-C93426C521EC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DEI SENSORI</a:t>
            </a:r>
          </a:p>
          <a:p>
            <a:endParaRPr lang="it-IT" sz="2000" b="1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DBBB48-DF27-6DEE-7A2A-745C16D08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70" y="1614794"/>
            <a:ext cx="5545095" cy="451566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6513CAB-9F5B-0866-12DC-37743729527A}"/>
              </a:ext>
            </a:extLst>
          </p:cNvPr>
          <p:cNvSpPr txBox="1"/>
          <p:nvPr/>
        </p:nvSpPr>
        <p:spPr>
          <a:xfrm>
            <a:off x="516834" y="1006004"/>
            <a:ext cx="284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Sensore DOA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A9F6209-37A4-7E5B-9A38-FD2C25D15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001" y="1797674"/>
            <a:ext cx="3457439" cy="32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72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9639-B6E2-3520-C8D8-60717AD4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8D01EEC6-D324-72A4-35D6-56531F24A2C1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87BAB93-B4E6-4C9E-89EA-A92598A6E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200498A2-9DC6-DD63-7D0A-CB6606F65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BB24B5-BB5F-A1AF-F8F7-AE06B5CB6B71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DEI SENSORI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E7F5865-75BA-BF79-F7D1-AEA20737D136}"/>
              </a:ext>
            </a:extLst>
          </p:cNvPr>
          <p:cNvSpPr txBox="1"/>
          <p:nvPr/>
        </p:nvSpPr>
        <p:spPr>
          <a:xfrm>
            <a:off x="516834" y="1048840"/>
            <a:ext cx="284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Accelerometro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F37F4E2-66B1-0A1E-99A6-84EA1CA2E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444" y="1422440"/>
            <a:ext cx="5421112" cy="495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34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7E32-11D7-30C7-E45B-C8264992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CF7AA014-C28E-A09B-407F-A5CC78E79039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F87977E-EFD9-6315-0C59-04EB593B1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3A007F8-4129-974A-57C1-72AC4EA73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B8A780-6BCD-1563-299A-318E9E137713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VALIDAZIONE DEI SENSORI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494BE91-A7DF-7442-083F-A3951F417FE8}"/>
              </a:ext>
            </a:extLst>
          </p:cNvPr>
          <p:cNvSpPr txBox="1"/>
          <p:nvPr/>
        </p:nvSpPr>
        <p:spPr>
          <a:xfrm>
            <a:off x="516834" y="1048840"/>
            <a:ext cx="284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Accelerometro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B81850D-392E-CDD4-26B6-3853A798A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177" y="1461008"/>
            <a:ext cx="5605645" cy="480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09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14BE-7241-A756-0811-C831ED1B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FF1A7D4-9849-0175-8851-EB2575AC35D5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0788D5A-9D9A-B6AF-B14A-B3D2FA5C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C5F29ECB-285D-194E-E820-893F762D9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FACBF9-209A-F866-94F1-6EFAE6848D5C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A6AAEA-E2E7-6E3D-2C02-94EDBF5B83B5}"/>
              </a:ext>
            </a:extLst>
          </p:cNvPr>
          <p:cNvSpPr txBox="1"/>
          <p:nvPr/>
        </p:nvSpPr>
        <p:spPr>
          <a:xfrm>
            <a:off x="437322" y="2556747"/>
            <a:ext cx="3116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Filtro di </a:t>
            </a:r>
            <a:r>
              <a:rPr lang="it-IT" sz="2000" dirty="0" err="1"/>
              <a:t>Kalman</a:t>
            </a:r>
            <a:endParaRPr lang="it-IT" sz="2000" dirty="0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0F160566-87C9-6F0B-66FB-FC3392A35A4C}"/>
              </a:ext>
            </a:extLst>
          </p:cNvPr>
          <p:cNvSpPr/>
          <p:nvPr/>
        </p:nvSpPr>
        <p:spPr>
          <a:xfrm>
            <a:off x="2464904" y="2654946"/>
            <a:ext cx="1089329" cy="2303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E23B74-E537-015D-4162-1AEB1F7079BF}"/>
              </a:ext>
            </a:extLst>
          </p:cNvPr>
          <p:cNvSpPr txBox="1"/>
          <p:nvPr/>
        </p:nvSpPr>
        <p:spPr>
          <a:xfrm>
            <a:off x="3874328" y="2062234"/>
            <a:ext cx="3166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Extended </a:t>
            </a:r>
            <a:r>
              <a:rPr lang="it-IT" sz="2000" dirty="0" err="1"/>
              <a:t>Kalman</a:t>
            </a:r>
            <a:r>
              <a:rPr lang="it-IT" sz="2000" dirty="0"/>
              <a:t> Filter(EKF)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C372652-0178-2790-3B0F-35FA3DBCC39F}"/>
              </a:ext>
            </a:extLst>
          </p:cNvPr>
          <p:cNvSpPr txBox="1"/>
          <p:nvPr/>
        </p:nvSpPr>
        <p:spPr>
          <a:xfrm>
            <a:off x="3818866" y="3240899"/>
            <a:ext cx="3325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/>
              <a:t>Unscented</a:t>
            </a:r>
            <a:r>
              <a:rPr lang="it-IT" sz="2000" dirty="0"/>
              <a:t> </a:t>
            </a:r>
            <a:r>
              <a:rPr lang="it-IT" sz="2000" dirty="0" err="1"/>
              <a:t>Kalman</a:t>
            </a:r>
            <a:r>
              <a:rPr lang="it-IT" sz="2000" dirty="0"/>
              <a:t> Filter(UKF)</a:t>
            </a:r>
          </a:p>
        </p:txBody>
      </p:sp>
    </p:spTree>
    <p:extLst>
      <p:ext uri="{BB962C8B-B14F-4D97-AF65-F5344CB8AC3E}">
        <p14:creationId xmlns:p14="http://schemas.microsoft.com/office/powerpoint/2010/main" val="117373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A7F0-77B1-04B6-B107-2C5CED03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0B7B6937-3C3A-4674-043C-9331105A119A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20D0385-9AB6-138C-3617-6E4B49946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7C94401-75F2-17FC-28DC-752C807A6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863A24-39C4-7AB6-D81B-1CD83E5A9774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73D880-6321-57B1-13A6-DED46AA9693C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EKF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8F547C6-160F-5852-9CC0-93FCACC70547}"/>
              </a:ext>
            </a:extLst>
          </p:cNvPr>
          <p:cNvSpPr txBox="1"/>
          <p:nvPr/>
        </p:nvSpPr>
        <p:spPr>
          <a:xfrm>
            <a:off x="612250" y="1645920"/>
            <a:ext cx="209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Predizione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Correzione</a:t>
            </a:r>
          </a:p>
        </p:txBody>
      </p:sp>
    </p:spTree>
    <p:extLst>
      <p:ext uri="{BB962C8B-B14F-4D97-AF65-F5344CB8AC3E}">
        <p14:creationId xmlns:p14="http://schemas.microsoft.com/office/powerpoint/2010/main" val="1629660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4D1C-8B7C-D40F-F62C-11BE6E61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7DC4C2B-75D9-D2E7-1CF1-5DB29EC8E56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4C885DF-24D3-C38D-45D6-CA849C642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07C46905-2DFB-BF63-AAA7-8898E13E9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DB8F37-2282-6F2E-C56C-1254C1956796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13CC872-D664-D99D-4D63-6CA4D82ECA6E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EKF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067085B-CF39-5B33-D83B-A11CD5B2B5F4}"/>
              </a:ext>
            </a:extLst>
          </p:cNvPr>
          <p:cNvSpPr txBox="1"/>
          <p:nvPr/>
        </p:nvSpPr>
        <p:spPr>
          <a:xfrm>
            <a:off x="612250" y="1645920"/>
            <a:ext cx="209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Predizione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Correzione</a:t>
            </a:r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172E1330-F777-96EA-7C84-DC4D325D3EE7}"/>
              </a:ext>
            </a:extLst>
          </p:cNvPr>
          <p:cNvSpPr/>
          <p:nvPr/>
        </p:nvSpPr>
        <p:spPr>
          <a:xfrm>
            <a:off x="2293951" y="1714643"/>
            <a:ext cx="918376" cy="25444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ECD805-F1C4-8A19-09C1-AC8DFF823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268" y="1521227"/>
            <a:ext cx="3362169" cy="77102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62D6F39-9135-9E4F-27A0-D6B73E415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255" y="2611612"/>
            <a:ext cx="5756745" cy="525902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9868317-A43F-0169-3BC1-9B9F23384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255" y="3263281"/>
            <a:ext cx="5648649" cy="140299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0E4D44A-2ED2-992F-B4C8-F730DCC593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8107" y="3535922"/>
            <a:ext cx="234695" cy="18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19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7D879-D24C-FD97-0B3C-95E65627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4DAE0C-0017-A1AB-4EE8-199AF2CAE5A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9CFC62BA-C5EB-B520-8726-024B0CDAC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E1D12E53-463D-A1F6-9B8B-CC6978829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D8968F-90A9-F0C2-F45A-9571B6EDA27A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6727D9A-1EF6-0C85-81FA-42A21AD0C591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EKF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D7A1358-DFB4-9A60-C226-A4B6B694673A}"/>
              </a:ext>
            </a:extLst>
          </p:cNvPr>
          <p:cNvSpPr txBox="1"/>
          <p:nvPr/>
        </p:nvSpPr>
        <p:spPr>
          <a:xfrm>
            <a:off x="612250" y="1645920"/>
            <a:ext cx="209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Predizione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Correzione</a:t>
            </a:r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251C1A51-BD8C-AD78-D266-3D5DD96BC7FB}"/>
              </a:ext>
            </a:extLst>
          </p:cNvPr>
          <p:cNvSpPr/>
          <p:nvPr/>
        </p:nvSpPr>
        <p:spPr>
          <a:xfrm>
            <a:off x="2162754" y="1969085"/>
            <a:ext cx="1144989" cy="31010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BEAD1AB-0B90-26F1-8088-CF7B6F03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567" y="1931316"/>
            <a:ext cx="2782436" cy="59720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BA50366-EE61-DF5C-073C-7973AD45A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2079" y="2528521"/>
            <a:ext cx="5451921" cy="135171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A8B5AB6-1131-DBE4-8AAB-14C331F7C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343" y="3740155"/>
            <a:ext cx="3420528" cy="73728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1ABCDB26-188F-0FB1-4276-08D5B4FD84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510" y="4459817"/>
            <a:ext cx="5225583" cy="185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07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6AB7B-A9A0-27D0-1A93-1B98D0C9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81F604CA-E52D-945E-400E-6B85F2A28B5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6B8F525-E10D-195D-9AEE-F083A5E2C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8E82D42-6A11-B877-3F0C-EC477AF39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1B046-8B46-028D-6F5F-B4E8C75707A7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APPLICAZIONE DELL’EKF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8EA37B-9037-AF64-F80B-F04F80B5EA5D}"/>
              </a:ext>
            </a:extLst>
          </p:cNvPr>
          <p:cNvSpPr txBox="1"/>
          <p:nvPr/>
        </p:nvSpPr>
        <p:spPr>
          <a:xfrm>
            <a:off x="333955" y="1025717"/>
            <a:ext cx="335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Discretizzazione del sistema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E3054AB-BB8B-41F1-0A8E-447BE5ED9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836" y="1641067"/>
            <a:ext cx="2048161" cy="42868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99A70FF-17C0-E103-C408-AFB5011B1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707" y="2567115"/>
            <a:ext cx="5996722" cy="124384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72339BC-8ECF-7011-9726-5CC4EDDBC35C}"/>
              </a:ext>
            </a:extLst>
          </p:cNvPr>
          <p:cNvSpPr txBox="1"/>
          <p:nvPr/>
        </p:nvSpPr>
        <p:spPr>
          <a:xfrm>
            <a:off x="341906" y="1641067"/>
            <a:ext cx="1878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Eulero in avanti: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7014F79-956A-B344-5293-8891EED3F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3411" y="4367671"/>
            <a:ext cx="262926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41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24EF-5A01-D699-B5CD-855FA3D5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9D88334-26AF-06E2-EB7A-5023B6B8526D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41605000-386B-B4E3-73BB-DB2AB6F22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DA99D21-38AA-C6A3-ACA3-E022F5599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EBE53C-FA5A-FE6B-33C1-0A1B5B860AEE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APPLICAZIONE DELL’EKF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637BA3-EC7C-E984-7D19-B822C01DE738}"/>
              </a:ext>
            </a:extLst>
          </p:cNvPr>
          <p:cNvSpPr txBox="1"/>
          <p:nvPr/>
        </p:nvSpPr>
        <p:spPr>
          <a:xfrm>
            <a:off x="453225" y="1184744"/>
            <a:ext cx="257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Ingressi del sistema: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D9AA5E7-17BE-F473-A272-27058F76A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447" y="1184744"/>
            <a:ext cx="933589" cy="36933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7453C029-808E-26A5-2D8B-3F81CD769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184744"/>
            <a:ext cx="1247949" cy="352474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A1E3E9-C713-D5C4-485E-0BEB6EAABEE8}"/>
              </a:ext>
            </a:extLst>
          </p:cNvPr>
          <p:cNvSpPr txBox="1"/>
          <p:nvPr/>
        </p:nvSpPr>
        <p:spPr>
          <a:xfrm>
            <a:off x="453225" y="2040592"/>
            <a:ext cx="224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Condizioni iniziali: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3A0BECEE-4844-B821-EBE4-CA60A91D1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994" y="2040592"/>
            <a:ext cx="1648055" cy="381053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90FB32E-1FD8-5809-672B-DCC59CE8D7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522" y="2086029"/>
            <a:ext cx="1848108" cy="32389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BC1FC9DD-79A9-C85F-FEDC-BDB8628812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710" y="3221554"/>
            <a:ext cx="1800476" cy="1171739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24A284D-13FF-FBB7-9B55-E964E48F1FD3}"/>
              </a:ext>
            </a:extLst>
          </p:cNvPr>
          <p:cNvSpPr txBox="1"/>
          <p:nvPr/>
        </p:nvSpPr>
        <p:spPr>
          <a:xfrm>
            <a:off x="406584" y="3511351"/>
            <a:ext cx="2335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Matrice di covarianza dello stato a priori: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BF2B6B2-B588-CCFA-CB2A-37A1F3E92823}"/>
              </a:ext>
            </a:extLst>
          </p:cNvPr>
          <p:cNvSpPr txBox="1"/>
          <p:nvPr/>
        </p:nvSpPr>
        <p:spPr>
          <a:xfrm>
            <a:off x="420353" y="5026925"/>
            <a:ext cx="2671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Modello dei sensori e matrice di covarianza: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155FC963-F8A3-A6CA-DA27-BFB9C8DDEB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7782" y="4828962"/>
            <a:ext cx="2819794" cy="876422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4FF250DC-D29D-C153-F1E0-13EB76F52A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3190" y="4890883"/>
            <a:ext cx="180047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56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85E2D-6782-A936-8B08-24B4E4C8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D48A550-F9D2-3C2E-37F2-FA9DB93A6560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42C6841F-5331-A4D1-0528-A9FF04B02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FBE2D98-B59C-E052-2985-C066BDF64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C69D425-B7CA-AA17-2630-E3EB2EDBD4E5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APPLICAZIONE DELL’EKF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AEA024-92CE-6D8A-11A4-D5C0FAC7713F}"/>
              </a:ext>
            </a:extLst>
          </p:cNvPr>
          <p:cNvSpPr txBox="1"/>
          <p:nvPr/>
        </p:nvSpPr>
        <p:spPr>
          <a:xfrm>
            <a:off x="675860" y="1073426"/>
            <a:ext cx="271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Jacobiani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E65CC79-6D32-623E-D5AC-D6483085B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01" y="1568525"/>
            <a:ext cx="5087060" cy="111458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84129BE-E055-F1FE-0976-6B748D76F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01" y="2980155"/>
            <a:ext cx="6506483" cy="1114581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4875E5C-1892-F1BD-7793-76EBFBB9A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60" y="4441085"/>
            <a:ext cx="4610743" cy="104789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D943646C-842A-0B33-DE28-4C0B7CDACE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717" y="4522058"/>
            <a:ext cx="133368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1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4388-72B1-EBB2-0C32-9606A989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B881E01F-2B28-B974-8479-401CBFAC2E9C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6E6B12C-BFAC-E4AC-E4B4-E7B0D23AC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21C6B14-F12C-A894-D98C-1C3B628A2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406A483-0648-FF8A-81A2-A994AB635110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A5F8130E-AA6A-F622-C7E6-E3504C189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58" y="1693601"/>
            <a:ext cx="4270586" cy="390977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45209C8-17AD-F6A7-645F-246EAA8F35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5" r="325"/>
          <a:stretch>
            <a:fillRect/>
          </a:stretch>
        </p:blipFill>
        <p:spPr>
          <a:xfrm>
            <a:off x="4460682" y="1693602"/>
            <a:ext cx="4217419" cy="39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0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F1BF-47C0-F501-CB8C-40ED33D6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B4E8CE9A-16AC-D0EF-8812-976E4DDAC526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14E1948D-F87D-8251-1A74-7148CDBC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0A6D913-EA43-0648-3676-3732682A8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6E8C36-44F7-F2DF-7D0F-E0F119017FE7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C2EB408-6494-6867-01E7-9E6E4A57F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62" y="1696096"/>
            <a:ext cx="4273778" cy="381566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C29A56A-78F9-DC41-BCC1-F9A8F05DE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948" y="1599618"/>
            <a:ext cx="4486822" cy="400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29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821CB-057B-06D6-D73F-D416CF45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54142E01-C921-ABCB-79D3-5F8CD2C310C1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2AA611C-85D1-A3C9-8460-70E070605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8A27425-052C-61DE-0CF5-78FC44FCA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86CB54E-4FDF-D0FE-D195-58CD61641437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658CE51-BABC-21B9-778E-18EC12EB5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74" y="1715419"/>
            <a:ext cx="4118774" cy="364010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2CCF56D0-B712-CA8F-5A66-2AB65664B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217" y="1721382"/>
            <a:ext cx="4334085" cy="373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72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A5D8-DE46-4106-35AF-F3CBB849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2E290DCF-1785-EFFB-C868-A493773399D7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1F97E804-4FE8-02E6-CD36-856161F2F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3A50624-B59F-F95E-DCD2-E8568F63C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8629F0-B621-FCBE-94B0-37F0C405CA56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738B128-B301-1C7C-88B5-1CD7B25E3D94}"/>
              </a:ext>
            </a:extLst>
          </p:cNvPr>
          <p:cNvSpPr txBox="1"/>
          <p:nvPr/>
        </p:nvSpPr>
        <p:spPr>
          <a:xfrm>
            <a:off x="445273" y="973054"/>
            <a:ext cx="23058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statistici: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Autocorrelazione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Consistenza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9386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F40C-2247-DA0E-4B6B-20D9DB98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CE8B6C0-AAEB-52BD-51FA-29136E3003FC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F40C6AB-A53E-5C9F-3330-E137EC49A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AB52FCD0-05C4-024A-BFD5-3C4F7EAF6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260AFE3-0521-825F-EEDC-594ABABF7378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E5DCCE2-79D0-E69D-1E18-2B7D3B38C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13" y="3417209"/>
            <a:ext cx="1083338" cy="93727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9A504D-E33F-7C18-C17F-E5F3A93F5B6C}"/>
              </a:ext>
            </a:extLst>
          </p:cNvPr>
          <p:cNvSpPr txBox="1"/>
          <p:nvPr/>
        </p:nvSpPr>
        <p:spPr>
          <a:xfrm>
            <a:off x="1377590" y="2983447"/>
            <a:ext cx="148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Media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2CD3594-111C-C8BE-FFBA-C2C2F9B3D6BA}"/>
              </a:ext>
            </a:extLst>
          </p:cNvPr>
          <p:cNvSpPr txBox="1"/>
          <p:nvPr/>
        </p:nvSpPr>
        <p:spPr>
          <a:xfrm>
            <a:off x="4729837" y="2983447"/>
            <a:ext cx="385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Normalized</a:t>
            </a:r>
            <a:r>
              <a:rPr lang="it-IT" b="1" dirty="0"/>
              <a:t> Innovation </a:t>
            </a:r>
            <a:r>
              <a:rPr lang="it-IT" b="1" dirty="0" err="1"/>
              <a:t>Squared</a:t>
            </a:r>
            <a:r>
              <a:rPr lang="it-IT" b="1" dirty="0"/>
              <a:t>(NIS)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AFBE292A-ED9B-BD40-A867-CEC7AF5FE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478" y="3478546"/>
            <a:ext cx="2819794" cy="666843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00368C5-2B29-0405-5FC4-96486E6A89EB}"/>
              </a:ext>
            </a:extLst>
          </p:cNvPr>
          <p:cNvSpPr txBox="1"/>
          <p:nvPr/>
        </p:nvSpPr>
        <p:spPr>
          <a:xfrm>
            <a:off x="445273" y="973054"/>
            <a:ext cx="23058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Test statistici: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Autocorrelazione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Consistenza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2065AA7-D369-D483-1E50-B848E899E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374" y="4221693"/>
            <a:ext cx="1448002" cy="42868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B33EDED-6ADC-BE3E-9397-A892152E7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4411" y="4776145"/>
            <a:ext cx="2297927" cy="33693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240D625-B669-96FF-DBE6-9DB5C9648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4411" y="5220985"/>
            <a:ext cx="2187766" cy="3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08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538E-A241-FD2E-1D10-929345FD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7704350-E5EC-8411-62F8-C855B0B43D85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D5CCBB07-E206-5AB8-5C01-A4E839807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2A6428D6-34DA-7D05-4C8D-0858E44A7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87349E-F730-0980-E989-B12EA11D8912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10998A-782F-EC03-B767-AA25369C31DE}"/>
              </a:ext>
            </a:extLst>
          </p:cNvPr>
          <p:cNvSpPr txBox="1"/>
          <p:nvPr/>
        </p:nvSpPr>
        <p:spPr>
          <a:xfrm>
            <a:off x="421420" y="954157"/>
            <a:ext cx="311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Autocorrelazione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3092FC7-9487-1D86-AF29-18A64BFD3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" y="1650848"/>
            <a:ext cx="4473081" cy="425299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993D313-5AA0-4E1C-4C90-DCD85A678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575" y="1660015"/>
            <a:ext cx="4510990" cy="431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4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7E6B-E739-85E1-DCB9-36F22AAC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29B86A6-0F2A-797C-86C5-07C78F0E46BA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4F5E658-4864-AA45-6492-1E1864D18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F91412D1-BE48-3265-C3B0-589B63055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0396A15-4360-1782-C906-B05D8D86BEC1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288195-AF16-2B5F-5AE6-EDF845EE8A56}"/>
              </a:ext>
            </a:extLst>
          </p:cNvPr>
          <p:cNvSpPr txBox="1"/>
          <p:nvPr/>
        </p:nvSpPr>
        <p:spPr>
          <a:xfrm>
            <a:off x="421420" y="954157"/>
            <a:ext cx="311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Autocorrelazione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BDE34FB-1561-A7D3-A254-911501715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240" y="1705347"/>
            <a:ext cx="4637901" cy="428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47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9029-D556-1670-3F7A-09AC33CC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C558210-1601-234E-0E86-74437A55985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597FD0C3-C6D7-C73A-00F0-7639E9E4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1C36DFF9-7680-4CF1-A773-5CD8D0A1B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5ECC37A-F800-D91A-D4FF-4EF273281694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0ECA857-B1BA-81B9-AC9F-375547A0C6B9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BF1464F-BC67-9997-9613-7403BF8AFE1B}"/>
              </a:ext>
            </a:extLst>
          </p:cNvPr>
          <p:cNvSpPr txBox="1"/>
          <p:nvPr/>
        </p:nvSpPr>
        <p:spPr>
          <a:xfrm>
            <a:off x="405515" y="1615206"/>
            <a:ext cx="8221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Vengono generati 2n+1 </a:t>
            </a:r>
            <a:r>
              <a:rPr lang="it-IT" b="1" dirty="0" err="1"/>
              <a:t>sigma_points</a:t>
            </a:r>
            <a:r>
              <a:rPr lang="it-IT" b="1" dirty="0"/>
              <a:t> </a:t>
            </a:r>
            <a:r>
              <a:rPr lang="it-IT" dirty="0"/>
              <a:t>(n dimensione dello stato) per approssimare la distribuzione di probabilità dello stato: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1F1DA4-3D36-E657-A27D-14BEF284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630" y="2561709"/>
            <a:ext cx="1726412" cy="94385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43D8D8-C096-EE3B-F14C-7E5DBEE18F8C}"/>
              </a:ext>
            </a:extLst>
          </p:cNvPr>
          <p:cNvSpPr txBox="1"/>
          <p:nvPr/>
        </p:nvSpPr>
        <p:spPr>
          <a:xfrm>
            <a:off x="548640" y="2848969"/>
            <a:ext cx="209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Media Campionaria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FD57243-25AB-A1C1-8D40-FE46189F3205}"/>
              </a:ext>
            </a:extLst>
          </p:cNvPr>
          <p:cNvSpPr txBox="1"/>
          <p:nvPr/>
        </p:nvSpPr>
        <p:spPr>
          <a:xfrm>
            <a:off x="548639" y="4079686"/>
            <a:ext cx="2226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Matrice di covarianza campionaria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8FFC5D2D-B141-4BED-AFEF-71586B9F6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387" y="3995439"/>
            <a:ext cx="3322416" cy="81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46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E555-5114-8FEE-A43B-C05D4D4F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2CE089A-79D1-EF19-7844-CD648D55F936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AB05DE6C-0158-6A75-8EB9-2A6F7CF48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18768482-8C91-CE17-DF5C-EC7DE7EE3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AFE6AE-C0DA-78E7-2036-F40C11E83A00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EDFA61-6908-2DA7-310C-0AAA18D660CE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8F81A72-12AC-ABDE-B340-1750EC984151}"/>
              </a:ext>
            </a:extLst>
          </p:cNvPr>
          <p:cNvSpPr txBox="1"/>
          <p:nvPr/>
        </p:nvSpPr>
        <p:spPr>
          <a:xfrm>
            <a:off x="405515" y="1615206"/>
            <a:ext cx="8221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2n+1 </a:t>
            </a:r>
            <a:r>
              <a:rPr lang="it-IT" b="1" dirty="0" err="1"/>
              <a:t>sigma_points</a:t>
            </a:r>
            <a:r>
              <a:rPr lang="it-IT" b="1" dirty="0"/>
              <a:t> </a:t>
            </a:r>
            <a:r>
              <a:rPr lang="it-IT" dirty="0"/>
              <a:t>(n dimensione dello stato) per ricavare i </a:t>
            </a:r>
            <a:r>
              <a:rPr lang="it-IT" b="1" dirty="0"/>
              <a:t>momenti fino al secondo ordine di 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940BFEE-98DC-DA0C-24BF-1C771D0AE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354" y="2664303"/>
            <a:ext cx="3964154" cy="5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01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2736-F2ED-95F0-16CA-C6771F03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5C6571AC-B633-F272-29B7-E8FC60FF47A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73D75F10-F3E0-EEBF-3A46-C39741CE6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D4355D49-4CFA-542A-EACF-76DFBC610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DE95BFF-C989-6445-08CC-AED90F96978E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82032C9-DEF3-B4D3-D36D-0BACFFD033C0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2A1431D-8BDC-4AE2-88B4-9B8251963EFF}"/>
              </a:ext>
            </a:extLst>
          </p:cNvPr>
          <p:cNvSpPr txBox="1"/>
          <p:nvPr/>
        </p:nvSpPr>
        <p:spPr>
          <a:xfrm>
            <a:off x="477078" y="1677725"/>
            <a:ext cx="485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vengono generati i </a:t>
            </a:r>
            <a:r>
              <a:rPr lang="it-IT" b="1" dirty="0"/>
              <a:t>sigma-points</a:t>
            </a:r>
            <a:r>
              <a:rPr lang="it-IT" dirty="0"/>
              <a:t>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DDC3F1D-4962-EB22-1C18-47D6FF5BC912}"/>
              </a:ext>
            </a:extLst>
          </p:cNvPr>
          <p:cNvSpPr txBox="1"/>
          <p:nvPr/>
        </p:nvSpPr>
        <p:spPr>
          <a:xfrm>
            <a:off x="477078" y="2321781"/>
            <a:ext cx="368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scelgono 3 parametri: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5CEDA81-608F-D7D0-124C-EAA0F296A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6" y="2947826"/>
            <a:ext cx="1092607" cy="44596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BDA8E77-43C0-7245-2C62-6A718F515590}"/>
              </a:ext>
            </a:extLst>
          </p:cNvPr>
          <p:cNvSpPr txBox="1"/>
          <p:nvPr/>
        </p:nvSpPr>
        <p:spPr>
          <a:xfrm>
            <a:off x="2119023" y="2986141"/>
            <a:ext cx="580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Descrive come i punti vengono generati intorno alla media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7E014E98-C410-89F5-48A0-9D35AD88D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5" y="3650501"/>
            <a:ext cx="658557" cy="295679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0D5B042-7AC5-C1B0-B3BC-84BAA1490488}"/>
              </a:ext>
            </a:extLst>
          </p:cNvPr>
          <p:cNvSpPr txBox="1"/>
          <p:nvPr/>
        </p:nvSpPr>
        <p:spPr>
          <a:xfrm>
            <a:off x="2120381" y="3613674"/>
            <a:ext cx="573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È un parametro che tiene conto delle informazioni a priori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C4FB2A88-6692-5A43-8C26-AF923563D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64" y="4191288"/>
            <a:ext cx="658557" cy="417741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803755E-AC2A-1C98-CAF6-91C752AAAFC0}"/>
              </a:ext>
            </a:extLst>
          </p:cNvPr>
          <p:cNvSpPr txBox="1"/>
          <p:nvPr/>
        </p:nvSpPr>
        <p:spPr>
          <a:xfrm>
            <a:off x="2218413" y="4191288"/>
            <a:ext cx="554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Termine che influenza i momenti superiori al secondo</a:t>
            </a:r>
          </a:p>
        </p:txBody>
      </p:sp>
    </p:spTree>
    <p:extLst>
      <p:ext uri="{BB962C8B-B14F-4D97-AF65-F5344CB8AC3E}">
        <p14:creationId xmlns:p14="http://schemas.microsoft.com/office/powerpoint/2010/main" val="2944463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9CB5-7CEC-9125-0615-37493A14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0E1ACD1-1361-EC08-FEAC-40A250579CA9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22B9184C-5186-5BE3-E49B-D274241EE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0FC3004D-D4BA-EE27-1ABA-14C63DB2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1D686C3-71F2-D2DF-5B4B-CD2E26A52579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6B81E1-83E8-4ABA-EA83-E4A47BFD9E26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E1E45D-50BE-2148-0EBF-869882D3076F}"/>
              </a:ext>
            </a:extLst>
          </p:cNvPr>
          <p:cNvSpPr txBox="1"/>
          <p:nvPr/>
        </p:nvSpPr>
        <p:spPr>
          <a:xfrm>
            <a:off x="477078" y="1677725"/>
            <a:ext cx="485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vengono generati i </a:t>
            </a:r>
            <a:r>
              <a:rPr lang="it-IT" b="1" dirty="0"/>
              <a:t>sigma-points</a:t>
            </a:r>
            <a:r>
              <a:rPr lang="it-IT" dirty="0"/>
              <a:t>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EBC388-E50A-6F5B-BF80-66E8B4F93B74}"/>
              </a:ext>
            </a:extLst>
          </p:cNvPr>
          <p:cNvSpPr txBox="1"/>
          <p:nvPr/>
        </p:nvSpPr>
        <p:spPr>
          <a:xfrm>
            <a:off x="477078" y="2321781"/>
            <a:ext cx="368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scelgono 3 parametri: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077A510-4061-18C9-D809-2EB553909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6" y="2947826"/>
            <a:ext cx="1092607" cy="44596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69CEB3F-7DF7-F1E3-0D8B-A40CE3725CA1}"/>
              </a:ext>
            </a:extLst>
          </p:cNvPr>
          <p:cNvSpPr txBox="1"/>
          <p:nvPr/>
        </p:nvSpPr>
        <p:spPr>
          <a:xfrm>
            <a:off x="2119023" y="2986141"/>
            <a:ext cx="580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Descrive come i punti vengono generati intorno alla media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FFD24431-366E-1B1A-7691-64A4C86E3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5" y="3650501"/>
            <a:ext cx="658557" cy="295679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D072B6-9616-C066-94CC-20C9217DF5AC}"/>
              </a:ext>
            </a:extLst>
          </p:cNvPr>
          <p:cNvSpPr txBox="1"/>
          <p:nvPr/>
        </p:nvSpPr>
        <p:spPr>
          <a:xfrm>
            <a:off x="2120381" y="3613674"/>
            <a:ext cx="573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È un parametro che tiene conto delle informazioni a priori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FFF25485-16B6-01AE-373E-BCE8134E1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64" y="4191288"/>
            <a:ext cx="658557" cy="417741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FE1EE46-69B0-7FC6-3D88-A30DC3D64F8E}"/>
              </a:ext>
            </a:extLst>
          </p:cNvPr>
          <p:cNvSpPr txBox="1"/>
          <p:nvPr/>
        </p:nvSpPr>
        <p:spPr>
          <a:xfrm>
            <a:off x="2218413" y="4191288"/>
            <a:ext cx="554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Termine che influenza i momenti superiori al secondo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5F7E2C2-8737-3D12-E901-F56528ADF117}"/>
              </a:ext>
            </a:extLst>
          </p:cNvPr>
          <p:cNvSpPr txBox="1"/>
          <p:nvPr/>
        </p:nvSpPr>
        <p:spPr>
          <a:xfrm>
            <a:off x="477078" y="5152445"/>
            <a:ext cx="22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Sono stati scelti: 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BB380D62-02C2-E6BC-C6D1-B6C41CBDA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918" y="5064074"/>
            <a:ext cx="2576783" cy="54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01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0A2E-2BC4-6F7B-EDAD-FBBF66AC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E8707558-FC96-70F6-A283-E9B2DB72311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DF434C9-675B-4796-487C-69DC31495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C03BEE71-9277-8ABC-69A1-4D7153CCD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B63E4C-C835-F60B-83DF-542B9328117C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6C5D3E-2F5A-2F30-BEB8-38E762F009FE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412115-BDA9-FA05-02C6-80AE7910AE57}"/>
              </a:ext>
            </a:extLst>
          </p:cNvPr>
          <p:cNvSpPr txBox="1"/>
          <p:nvPr/>
        </p:nvSpPr>
        <p:spPr>
          <a:xfrm>
            <a:off x="477078" y="1677725"/>
            <a:ext cx="485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vengono generati i </a:t>
            </a:r>
            <a:r>
              <a:rPr lang="it-IT" b="1" dirty="0"/>
              <a:t>sigma-points</a:t>
            </a:r>
            <a:r>
              <a:rPr lang="it-IT" dirty="0"/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155E5DC-EA24-8ABA-6001-BC55B4C52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75" y="2925058"/>
            <a:ext cx="3017586" cy="313542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675DDEC9-B388-CC34-F94E-88E6E965C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607" y="3029106"/>
            <a:ext cx="2400635" cy="1081239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5B3E619-69E7-AB6B-8006-AD3D6383BC56}"/>
              </a:ext>
            </a:extLst>
          </p:cNvPr>
          <p:cNvSpPr txBox="1"/>
          <p:nvPr/>
        </p:nvSpPr>
        <p:spPr>
          <a:xfrm>
            <a:off x="477078" y="239187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Vengono calcolati i pesi: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78FAC0C-1E56-687D-8243-43FA34ACB856}"/>
              </a:ext>
            </a:extLst>
          </p:cNvPr>
          <p:cNvSpPr txBox="1"/>
          <p:nvPr/>
        </p:nvSpPr>
        <p:spPr>
          <a:xfrm>
            <a:off x="5651859" y="2343274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Viene decomposta la matrice di covarianza: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E8A2CC59-CB06-0A25-1441-3653268A6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0706" y="4713848"/>
            <a:ext cx="2769465" cy="1417219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604ED1D-EFE6-285C-385B-0AA742E6F4F1}"/>
              </a:ext>
            </a:extLst>
          </p:cNvPr>
          <p:cNvSpPr txBox="1"/>
          <p:nvPr/>
        </p:nvSpPr>
        <p:spPr>
          <a:xfrm>
            <a:off x="5335325" y="4344516"/>
            <a:ext cx="337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Vengono definiti i sigma-points:</a:t>
            </a:r>
          </a:p>
        </p:txBody>
      </p:sp>
    </p:spTree>
    <p:extLst>
      <p:ext uri="{BB962C8B-B14F-4D97-AF65-F5344CB8AC3E}">
        <p14:creationId xmlns:p14="http://schemas.microsoft.com/office/powerpoint/2010/main" val="3261163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F598-16C8-478B-0D4D-9D8D7AC8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3B6A7D6-F2EA-435C-177A-84B3030EA4A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5BFA7491-AEB3-3855-E450-97B95FBB2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0EDD8AC-4AA8-B102-0265-B74EADE39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EFE1312-7FA5-F130-B90C-E3BB220B839D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5F284AA-E33C-CAFE-8B73-FB5A88F6732F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A45EF4E-EFA4-9822-8DAD-183C9F60836D}"/>
              </a:ext>
            </a:extLst>
          </p:cNvPr>
          <p:cNvSpPr txBox="1"/>
          <p:nvPr/>
        </p:nvSpPr>
        <p:spPr>
          <a:xfrm>
            <a:off x="477078" y="1677725"/>
            <a:ext cx="5899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Calcolo dei </a:t>
            </a:r>
            <a:r>
              <a:rPr lang="it-IT" b="1" dirty="0"/>
              <a:t>momenti del secondo ordine di y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BDA06D-5F0B-F343-59C1-D6FF8EDF9520}"/>
              </a:ext>
            </a:extLst>
          </p:cNvPr>
          <p:cNvSpPr txBox="1"/>
          <p:nvPr/>
        </p:nvSpPr>
        <p:spPr>
          <a:xfrm>
            <a:off x="477078" y="2345635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Vengono calcolati gli 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AC041FCC-D61C-B513-6030-D3738C1B5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221" y="2394625"/>
            <a:ext cx="263784" cy="294818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D25F9DF-E130-3B06-6353-5D06DB10EA9D}"/>
              </a:ext>
            </a:extLst>
          </p:cNvPr>
          <p:cNvSpPr txBox="1"/>
          <p:nvPr/>
        </p:nvSpPr>
        <p:spPr>
          <a:xfrm>
            <a:off x="2711393" y="2357296"/>
            <a:ext cx="16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: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BF1D9CAF-CF1E-6BAC-560C-7694FFFBB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970" y="2324609"/>
            <a:ext cx="1189978" cy="402019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278FDC8-A2FD-547D-B8F3-A039D029E74F}"/>
              </a:ext>
            </a:extLst>
          </p:cNvPr>
          <p:cNvSpPr txBox="1"/>
          <p:nvPr/>
        </p:nvSpPr>
        <p:spPr>
          <a:xfrm>
            <a:off x="4309607" y="2356254"/>
            <a:ext cx="447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usando i sigma-points appena calcolati</a:t>
            </a:r>
          </a:p>
        </p:txBody>
      </p:sp>
    </p:spTree>
    <p:extLst>
      <p:ext uri="{BB962C8B-B14F-4D97-AF65-F5344CB8AC3E}">
        <p14:creationId xmlns:p14="http://schemas.microsoft.com/office/powerpoint/2010/main" val="1445309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5577-FAD3-A78B-0ADF-E46D6CDC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3880EA3-193C-8EA3-F15A-7BF93B52EEAF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16FC812-1F2A-BE99-B86B-C6E8F9CA9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C38084A-A31C-444D-F0C5-445863567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CF576E-E3C7-9DF6-8963-E7EAF8B7BDE7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D9E87F9-4D72-B1BD-0AFB-80DADB5BE410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B45830D-3BD4-2C12-F12A-8987C6EC8A03}"/>
              </a:ext>
            </a:extLst>
          </p:cNvPr>
          <p:cNvSpPr txBox="1"/>
          <p:nvPr/>
        </p:nvSpPr>
        <p:spPr>
          <a:xfrm>
            <a:off x="477078" y="1677725"/>
            <a:ext cx="5899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Calcolo dei </a:t>
            </a:r>
            <a:r>
              <a:rPr lang="it-IT" b="1" dirty="0"/>
              <a:t>momenti del secondo ordine di y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194F9A-1B65-9537-2637-E5CB6097BCDA}"/>
              </a:ext>
            </a:extLst>
          </p:cNvPr>
          <p:cNvSpPr txBox="1"/>
          <p:nvPr/>
        </p:nvSpPr>
        <p:spPr>
          <a:xfrm>
            <a:off x="477078" y="2345635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Vengono calcolati gli 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8FCFFA95-1D63-D1C5-7A4A-E8BE997C4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221" y="2394625"/>
            <a:ext cx="263784" cy="294818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77CF511-4000-1478-8E4A-74C7DC2EB5D1}"/>
              </a:ext>
            </a:extLst>
          </p:cNvPr>
          <p:cNvSpPr txBox="1"/>
          <p:nvPr/>
        </p:nvSpPr>
        <p:spPr>
          <a:xfrm>
            <a:off x="2711393" y="2357296"/>
            <a:ext cx="16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: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B961C786-B11B-840C-9BE3-1874F9CC1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970" y="2324609"/>
            <a:ext cx="1189978" cy="402019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176E281-5D8E-4050-2329-EFB2C557C4CA}"/>
              </a:ext>
            </a:extLst>
          </p:cNvPr>
          <p:cNvSpPr txBox="1"/>
          <p:nvPr/>
        </p:nvSpPr>
        <p:spPr>
          <a:xfrm>
            <a:off x="4309607" y="2356254"/>
            <a:ext cx="447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usando i sigma-points appena calcolati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B642974-45E4-FE84-9CF2-CBA92F919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8370" y="3271264"/>
            <a:ext cx="3289781" cy="253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15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CC53-38BE-7289-61CF-46BEB463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2B0FAE1E-7385-492B-3D34-8EA5EEE869E1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D9739B8E-6551-8C04-D4C4-3B06A0187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52587B8B-27E2-8779-A805-0862B4DD4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73C8A83-4E8E-0C59-6A6D-03DFB94B4CF4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858EE45-84FA-6D99-9281-5D29BB51A7B0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322F1A-9D34-7C98-77A1-51280B41C2A1}"/>
              </a:ext>
            </a:extLst>
          </p:cNvPr>
          <p:cNvSpPr txBox="1"/>
          <p:nvPr/>
        </p:nvSpPr>
        <p:spPr>
          <a:xfrm>
            <a:off x="485029" y="1941904"/>
            <a:ext cx="221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Predizione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3FEF15F-6B42-497F-4FEB-A1A007185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231" y="2614860"/>
            <a:ext cx="4639538" cy="71764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E39F24B-9F13-46EC-7AAC-B7B2E45EB53A}"/>
              </a:ext>
            </a:extLst>
          </p:cNvPr>
          <p:cNvSpPr txBox="1"/>
          <p:nvPr/>
        </p:nvSpPr>
        <p:spPr>
          <a:xfrm>
            <a:off x="485029" y="3586038"/>
            <a:ext cx="13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Correzione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43FEF1D-5649-6A1D-0299-6FE11F027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86" y="4050158"/>
            <a:ext cx="2733301" cy="440649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7433B74C-3720-4BBA-0AF2-B7855CF89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0874" y="4562621"/>
            <a:ext cx="3099436" cy="486770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17E7DAB4-D8FB-E5B5-8D94-652CF3838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231" y="5134676"/>
            <a:ext cx="4199571" cy="71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6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F77C-7A62-9473-BB51-434FABE3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F8096075-EC09-1624-0618-CD4FD31484E3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941773E0-A8EE-108E-D625-EDBB3FD6F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D141E50-757B-EAC0-8E17-3C262F793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4D025D9-07E5-EFB4-1FEB-1CB1765B0398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E9E2A36-00A0-E7F2-83C1-0B849012BA37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D514961-719B-ABCC-21AE-445F1EFBBBB5}"/>
              </a:ext>
            </a:extLst>
          </p:cNvPr>
          <p:cNvSpPr txBox="1"/>
          <p:nvPr/>
        </p:nvSpPr>
        <p:spPr>
          <a:xfrm>
            <a:off x="405516" y="1749286"/>
            <a:ext cx="13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Correzione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841A052-284C-DEE9-9B97-69ED46F25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659" y="2236989"/>
            <a:ext cx="4334543" cy="56292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DFE39AE-FAA4-85DC-A8A6-AB011D44C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2026" y="2799917"/>
            <a:ext cx="1766622" cy="122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8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C09F-78DA-EE62-2DE6-C96FFF28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8A2823B-E210-7FE2-BD3B-82179C45E083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CAECFE59-A3B3-B25E-67FF-37BC88EA8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C36328FF-C82F-B5A2-ECB6-C0E5AE537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07370C-E9D1-B7CD-6FF9-E09944230EE9}"/>
              </a:ext>
            </a:extLst>
          </p:cNvPr>
          <p:cNvSpPr txBox="1"/>
          <p:nvPr/>
        </p:nvSpPr>
        <p:spPr>
          <a:xfrm>
            <a:off x="333955" y="298118"/>
            <a:ext cx="391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STIMA DELLO STATO</a:t>
            </a:r>
          </a:p>
          <a:p>
            <a:endParaRPr lang="it-IT" sz="2000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424A564-692A-591B-45CE-16435FA50243}"/>
              </a:ext>
            </a:extLst>
          </p:cNvPr>
          <p:cNvSpPr txBox="1"/>
          <p:nvPr/>
        </p:nvSpPr>
        <p:spPr>
          <a:xfrm>
            <a:off x="675861" y="1089329"/>
            <a:ext cx="2099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UKF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FAB832D-28B5-9A34-3634-AD74047FB43C}"/>
              </a:ext>
            </a:extLst>
          </p:cNvPr>
          <p:cNvSpPr txBox="1"/>
          <p:nvPr/>
        </p:nvSpPr>
        <p:spPr>
          <a:xfrm>
            <a:off x="405516" y="1749286"/>
            <a:ext cx="13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Correzione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27071E-8096-7098-9B48-477A4F056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659" y="2236989"/>
            <a:ext cx="4334543" cy="56292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8BE3C9E-2CCD-CA2D-2B66-F029EE78E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2026" y="2799917"/>
            <a:ext cx="1766622" cy="122822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2DA43C4D-9066-1A4E-4EB9-EE57ECCB19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476" y="4153907"/>
            <a:ext cx="2790908" cy="154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80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CF2F-3F16-7740-F007-A380CFB95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FF030603-9E26-7F69-78DE-1D2324593150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C8A7D29-8D5E-E172-B9F2-A27F06C39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40A59DD-B2B5-65B1-6624-156208B2B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FF15157-D542-491C-8E1B-FA19F5420C2D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DE88D2-3170-494D-7653-417BF37EF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63067"/>
            <a:ext cx="4592348" cy="402913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5212D63-A888-837C-FE4C-C9914B723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525" y="1163067"/>
            <a:ext cx="4659475" cy="409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54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428C-B5F4-B41B-E254-DF61BA8E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17C46DE-6CE4-DB25-4D9D-727144CBB1A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088ACEC-33BB-A777-8A18-D584CD6AF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0B2B5092-729F-7BD3-C2BF-91B27B256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EBA96ED-A196-5CEE-3CAE-17A8D7663F94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F8639A-95D1-E990-2FA7-EEF100395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0" y="1365562"/>
            <a:ext cx="4320541" cy="388436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2012939-366E-6776-0A8B-868B33DBD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946" y="1365562"/>
            <a:ext cx="4560157" cy="388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32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8B4-A333-29FD-28BA-2D9D3BF3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32953A3-31E5-1FA9-F668-15BF6D56B20C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28BA717-CFD1-565F-B22C-292AA39E1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3DA3D31D-2EE9-70B2-CF01-05CD2A635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6E18305-815A-C882-CAE9-9E8D29A0ED02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SIMULAZIONI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1F31D6-A7A6-7F9F-BAC7-F349CDE9D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8" y="1290250"/>
            <a:ext cx="4338579" cy="372702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04EA025-1C92-5B4B-AAE3-CDE50AFDA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327" y="1290250"/>
            <a:ext cx="4435491" cy="383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21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4784-016F-3BBF-42A4-28F12116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C6731EE4-CA54-1866-2220-0C59678133E0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AEEC528-BEE4-CDD3-659D-258F28D46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5F514424-98B7-B5B8-BBDF-2C83E3BFF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60BE97B-71D4-4A8D-C3BB-465C077E38A5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03D2C5-5CC6-78D5-C9E4-47318017ED26}"/>
              </a:ext>
            </a:extLst>
          </p:cNvPr>
          <p:cNvSpPr txBox="1"/>
          <p:nvPr/>
        </p:nvSpPr>
        <p:spPr>
          <a:xfrm>
            <a:off x="1701579" y="1252033"/>
            <a:ext cx="157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Media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7BBF5A8-6C85-715B-ED21-22459E501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840" y="1775653"/>
            <a:ext cx="1288038" cy="104341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8189CA0-D894-46C1-677F-A02516535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416" y="1747132"/>
            <a:ext cx="2664031" cy="75198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8A53FD8-874D-4F7C-A114-5D79025EC9BF}"/>
              </a:ext>
            </a:extLst>
          </p:cNvPr>
          <p:cNvSpPr txBox="1"/>
          <p:nvPr/>
        </p:nvSpPr>
        <p:spPr>
          <a:xfrm>
            <a:off x="4535363" y="1252033"/>
            <a:ext cx="415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Normalized</a:t>
            </a:r>
            <a:r>
              <a:rPr lang="it-IT" b="1" dirty="0"/>
              <a:t> Innovation </a:t>
            </a:r>
            <a:r>
              <a:rPr lang="it-IT" b="1" dirty="0" err="1"/>
              <a:t>Squared</a:t>
            </a:r>
            <a:r>
              <a:rPr lang="it-IT" b="1" dirty="0"/>
              <a:t>(NIS)</a:t>
            </a:r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602208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12CB-55DB-BCB9-A0F7-8C05C3E9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6AE9578-4DCC-8738-CEAD-20936F7E1B4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4540954-F430-FDF5-79F3-880640C88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A76E94F4-FEEC-A546-FB6E-7D60BF927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89AC1F7-BEB9-97EE-B2EC-1709539679E1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TEST DI BIANCHEZZA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FB7F767-5323-702D-E934-9CC8AC76273B}"/>
              </a:ext>
            </a:extLst>
          </p:cNvPr>
          <p:cNvSpPr txBox="1"/>
          <p:nvPr/>
        </p:nvSpPr>
        <p:spPr>
          <a:xfrm>
            <a:off x="421420" y="954157"/>
            <a:ext cx="311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Autocorrelazione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F832529-17E7-AC1D-C453-D0F8C35A7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9" y="1468414"/>
            <a:ext cx="4211628" cy="392117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AC0B52A-F718-BFCC-FF51-A6406DEED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579" y="1528437"/>
            <a:ext cx="4246533" cy="39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609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AA32-D724-2843-7346-73D73227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BAA28F9-BEE5-D92F-DAB1-A705C3AF1063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02495BA-F4C0-7B79-EB14-8AC5D950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E9BE9BC4-5EB5-8392-4033-C08085FAA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59C22EE-6C1A-F6E8-5F52-DAA6DE862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825" y="996798"/>
            <a:ext cx="5328350" cy="486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65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9958-0D69-91D0-7737-9FCB66F6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BE2F7232-D8DB-F636-24B0-43F5D4B2EA4F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83D2857-728D-9D59-0E47-E79151A5B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054BBA69-D01A-C797-1E9A-AAA22613D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77E2FB-DF62-BE49-1F92-0C74BF76FC9B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1E8E33F-93E7-432A-9240-9D82B71D0F30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Senza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523E04E-1E77-AB87-A42F-F4CC33399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96" y="1845256"/>
            <a:ext cx="4436004" cy="386775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D853AFC-FCCE-E21A-9951-78026C5BE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437" y="1845256"/>
            <a:ext cx="4436004" cy="389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98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14F5-E702-CE1A-38A3-976FC163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F78B3C13-AF61-9D7B-97AB-8339EE289920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73B2A9F-0515-9808-5CB9-FE7F2E5E9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204F959-ECB2-18BA-43A1-A6B779180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AB0173-C7DE-ED25-0589-5372C98710D3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ABC299C-E36A-13E6-BA74-030430A99F8D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Senza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1CE0620-AB4D-1E01-7EA4-CE2C26144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75" y="1961080"/>
            <a:ext cx="4254952" cy="375193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31CF5E4-F899-1B97-10CB-567B886BC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314" y="1961080"/>
            <a:ext cx="4235739" cy="381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92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819E-E2DC-7F42-11AE-7E7C1CF2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528CF4EA-519A-306B-874B-EBAD38EEE5B4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30944D44-8E91-4E4D-D7E4-65241D12E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31B75B5-153B-9304-6357-D5401D8B9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B635CE-237F-AEA6-0619-35AD5AEC2DFC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C75DCA-7D89-B20B-F0F9-63795CD3A60F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Senza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6712458-4441-BC6D-1454-8461B2E24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2" y="1961080"/>
            <a:ext cx="4202539" cy="366480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17FF66B7-D19C-9341-D560-1F83A9ADA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222" y="2037482"/>
            <a:ext cx="4143127" cy="35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790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DC5D-2B9B-BE6E-0D2C-51EF8E63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52821873-A547-4433-FAD1-0910539EB46E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EC2837E-7645-1D60-7B98-2D29A4F35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A40E2B0-14CE-675F-2A65-929754A46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3871E4-92A0-9A84-0D6F-2EB576DBE17C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6E1122C-5C63-634D-BF9B-91B9256E6B25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Usando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67ABDD-46C5-00CE-7585-FFE0796FD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95042"/>
            <a:ext cx="4423437" cy="398172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30EE838-586A-0C33-85FA-C994CB551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84" y="1795042"/>
            <a:ext cx="4423437" cy="40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90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CC0F3-7DC2-AD78-5BDD-BA0BD740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0CCF6FD-E61F-6744-DE8C-4DD788C71DBF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51429E1-3E56-5BC0-A2C9-5A91B692B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AB2E6AD-75F5-E01D-E4A5-7E61CBFBC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1904D44-635D-73F6-47A6-92EEAB538188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18A5D6-8178-B348-8492-565772863182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Usando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B75EE8A-32EF-21D3-31DC-8247CCCF9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3" y="1961080"/>
            <a:ext cx="4509144" cy="408498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D954F6B8-7C50-5118-D2B2-F7C8AE136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245" y="1961080"/>
            <a:ext cx="4576755" cy="40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447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C2AE-AFA1-51C9-E6A9-D33403ED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51C4723-7D4F-BC71-CEB2-FCCE95D21638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C05CDA77-AA8B-F92C-1616-8D6228174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BF1AAB88-F88D-5919-68D7-AFCE08B40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3E34C8-B96D-6687-7EE3-FE7168E0973B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1712AB-D19A-60F5-DDC0-56FFAFAD61AC}"/>
              </a:ext>
            </a:extLst>
          </p:cNvPr>
          <p:cNvSpPr txBox="1"/>
          <p:nvPr/>
        </p:nvSpPr>
        <p:spPr>
          <a:xfrm>
            <a:off x="403577" y="1144988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Usando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311FA6-E6C7-2552-FE17-48C704DDA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9" y="1865058"/>
            <a:ext cx="4550161" cy="39632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F047762-5CF6-78F2-23E9-1A568CE38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737" y="1912650"/>
            <a:ext cx="4473224" cy="39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93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12B0-9288-5AD0-F828-D0E62859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D393DB2-3548-1D4B-6845-63C3E062F4EA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FED70D0A-5583-6AAA-F677-7F29CBA77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2D84164-A235-516F-A7DE-2C562ABE8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C1BC45-FA15-F4CC-2312-B569B979F138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PRESENZA DI OUTLIER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EAA45F-50A7-BEF6-3B72-B57B134D3D6F}"/>
              </a:ext>
            </a:extLst>
          </p:cNvPr>
          <p:cNvSpPr txBox="1"/>
          <p:nvPr/>
        </p:nvSpPr>
        <p:spPr>
          <a:xfrm>
            <a:off x="217096" y="835962"/>
            <a:ext cx="359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Usando la distanza di </a:t>
            </a:r>
            <a:r>
              <a:rPr lang="it-IT" b="1" dirty="0" err="1"/>
              <a:t>Mahalanobis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BBABE2-3C30-2BEB-3AC0-EB22D4B43DD2}"/>
              </a:ext>
            </a:extLst>
          </p:cNvPr>
          <p:cNvSpPr txBox="1"/>
          <p:nvPr/>
        </p:nvSpPr>
        <p:spPr>
          <a:xfrm>
            <a:off x="93476" y="1229315"/>
            <a:ext cx="755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Sono stati identificati </a:t>
            </a:r>
            <a:r>
              <a:rPr lang="it-IT" b="1" dirty="0"/>
              <a:t>1197</a:t>
            </a:r>
            <a:r>
              <a:rPr lang="it-IT" dirty="0"/>
              <a:t> </a:t>
            </a:r>
            <a:r>
              <a:rPr lang="it-IT" dirty="0" err="1"/>
              <a:t>outliers</a:t>
            </a:r>
            <a:r>
              <a:rPr lang="it-IT" dirty="0"/>
              <a:t>, il numero di </a:t>
            </a:r>
            <a:r>
              <a:rPr lang="it-IT" dirty="0" err="1"/>
              <a:t>outlier</a:t>
            </a:r>
            <a:r>
              <a:rPr lang="it-IT" dirty="0"/>
              <a:t> scartati è coerente?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1813EBF-AB18-5E72-2CD4-441708753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37" y="1668423"/>
            <a:ext cx="3981193" cy="121496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13F06F8-39CA-E6BF-04AE-8091CAFC4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51478"/>
            <a:ext cx="5142119" cy="1305474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641E81A1-BF15-3CA9-E929-535CB0020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73412"/>
            <a:ext cx="4830978" cy="1286791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804947DB-E09E-3721-2377-C09BEAB79A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843" y="4773412"/>
            <a:ext cx="3454034" cy="122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704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40AB-F2B6-1E0F-27F1-43BD1DA7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AFB59EFB-2850-AFDC-69D7-F5EC3995BB84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93F59686-50DA-11A6-D7A4-8B7C2CF8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7DE4091-860E-9AB4-667A-D7E63F75B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A3ED173-7988-1F93-E85F-79BE6FF3F1CA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CONCLUSIONI EKF vs UKF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90F7B0-1E92-6C09-573D-46ECB5330196}"/>
              </a:ext>
            </a:extLst>
          </p:cNvPr>
          <p:cNvSpPr txBox="1"/>
          <p:nvPr/>
        </p:nvSpPr>
        <p:spPr>
          <a:xfrm>
            <a:off x="333955" y="1097281"/>
            <a:ext cx="73867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 il sistema è fortemente non lineare l’EKF introduce degli errori grandi che potrebbero portare il filtro a divergere. In questo caso l’UKF è la scelta migliore.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 il sistema non è altamente non lineare ed i jacobiani sono pressocché costanti è meglio preferire l’EKF in quanto l’UKF ad ogni passo deve generare propagare 2N+1 sigma-points che rendono il calcolo computazionale oneroso.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20020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BA34-A254-6667-5381-D66286EBC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A84E15A-B6FE-A6A1-16C0-B939E2249F27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251C36FC-DDF4-7733-3CFD-5D68BBA8A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C01E2278-56D1-DF1F-000D-0417A584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0A456F-7821-678E-A955-F24472EA276A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REGOLARIZZAZIONE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1E97C7B-A825-F59A-80A7-4C27DAC6E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15" y="2408590"/>
            <a:ext cx="3512052" cy="120622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922A3F-34AD-B4EA-0A45-B9E4A818D639}"/>
              </a:ext>
            </a:extLst>
          </p:cNvPr>
          <p:cNvSpPr txBox="1"/>
          <p:nvPr/>
        </p:nvSpPr>
        <p:spPr>
          <a:xfrm>
            <a:off x="333955" y="1081377"/>
            <a:ext cx="469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Regolarizzatore</a:t>
            </a:r>
            <a:r>
              <a:rPr lang="it-IT" b="1" dirty="0"/>
              <a:t> di Rauch-Tung-</a:t>
            </a:r>
            <a:r>
              <a:rPr lang="it-IT" b="1" dirty="0" err="1"/>
              <a:t>Striebel</a:t>
            </a:r>
            <a:r>
              <a:rPr lang="it-IT" b="1" dirty="0"/>
              <a:t>(RTS)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F63CF72-806D-D73E-B2BC-76E1D59514C1}"/>
              </a:ext>
            </a:extLst>
          </p:cNvPr>
          <p:cNvSpPr txBox="1"/>
          <p:nvPr/>
        </p:nvSpPr>
        <p:spPr>
          <a:xfrm>
            <a:off x="413468" y="1689867"/>
            <a:ext cx="2067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k&gt;t (offline)</a:t>
            </a:r>
          </a:p>
        </p:txBody>
      </p:sp>
    </p:spTree>
    <p:extLst>
      <p:ext uri="{BB962C8B-B14F-4D97-AF65-F5344CB8AC3E}">
        <p14:creationId xmlns:p14="http://schemas.microsoft.com/office/powerpoint/2010/main" val="11592216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0E09-92D1-096A-3F01-569627D2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B2E52F33-E8BC-488A-C68B-94704E7F0B0B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5FF1763D-2D56-5CF9-C192-26B7A8337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D8FAD6B7-7417-9398-18BC-4B2B077B6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11274E-D87A-1F27-7511-7701F3FB67CE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REGOLARIZZAZIONE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9B3F30C-16D1-294E-EF29-8A24BE56533E}"/>
              </a:ext>
            </a:extLst>
          </p:cNvPr>
          <p:cNvSpPr txBox="1"/>
          <p:nvPr/>
        </p:nvSpPr>
        <p:spPr>
          <a:xfrm>
            <a:off x="333955" y="1081377"/>
            <a:ext cx="469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Regolarizzatore</a:t>
            </a:r>
            <a:r>
              <a:rPr lang="it-IT" b="1" dirty="0"/>
              <a:t> di Rauch-Tung-</a:t>
            </a:r>
            <a:r>
              <a:rPr lang="it-IT" b="1" dirty="0" err="1"/>
              <a:t>Striebel</a:t>
            </a:r>
            <a:r>
              <a:rPr lang="it-IT" b="1" dirty="0"/>
              <a:t>(RTS)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98AF4D0-2DEB-7A0D-381B-D4A4126EE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1" y="1885369"/>
            <a:ext cx="4391679" cy="399859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7F29F5A4-6B25-ACB0-31B5-8C53CCF19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975" y="1885369"/>
            <a:ext cx="4442687" cy="41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29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719C-01E8-20A4-A13A-DB47809C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AB7D01AB-8B6C-56C3-AE72-09AFF4A875D7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E6FA76E3-1744-DD4B-76DE-BDAE3EE1C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CD728B4-E6B9-B27F-2D22-593921D32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CA09D1-2AF9-16F7-6836-7199BCC3E7E5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REGOLARIZZAZIONE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30243CC-DBD1-A780-F29F-70EF2DA852A6}"/>
              </a:ext>
            </a:extLst>
          </p:cNvPr>
          <p:cNvSpPr txBox="1"/>
          <p:nvPr/>
        </p:nvSpPr>
        <p:spPr>
          <a:xfrm>
            <a:off x="333955" y="1081377"/>
            <a:ext cx="469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Regolarizzatore</a:t>
            </a:r>
            <a:r>
              <a:rPr lang="it-IT" b="1" dirty="0"/>
              <a:t> di Rauch-Tung-</a:t>
            </a:r>
            <a:r>
              <a:rPr lang="it-IT" b="1" dirty="0" err="1"/>
              <a:t>Striebel</a:t>
            </a:r>
            <a:r>
              <a:rPr lang="it-IT" b="1" dirty="0"/>
              <a:t>(RTS)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C74A17A7-A604-C3EC-1E12-36F46F8BF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975" y="1885369"/>
            <a:ext cx="4442687" cy="412436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4072C23-317C-9376-24BA-64503A19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085" y="1640635"/>
            <a:ext cx="4597687" cy="3576729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4471718-9299-8CF3-6560-169C2BBEEA57}"/>
              </a:ext>
            </a:extLst>
          </p:cNvPr>
          <p:cNvCxnSpPr>
            <a:cxnSpLocks/>
          </p:cNvCxnSpPr>
          <p:nvPr/>
        </p:nvCxnSpPr>
        <p:spPr>
          <a:xfrm>
            <a:off x="5693134" y="1833858"/>
            <a:ext cx="1232452" cy="8139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571FD1FC-BB99-E322-3CA4-216088A4A7BE}"/>
              </a:ext>
            </a:extLst>
          </p:cNvPr>
          <p:cNvCxnSpPr>
            <a:cxnSpLocks/>
          </p:cNvCxnSpPr>
          <p:nvPr/>
        </p:nvCxnSpPr>
        <p:spPr>
          <a:xfrm flipV="1">
            <a:off x="5629523" y="2639833"/>
            <a:ext cx="1296063" cy="2175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3135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DD84-A7E4-7D5F-DA26-843BD6A4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4BC3CAD-28AB-D876-F101-F32EB50D6259}"/>
              </a:ext>
            </a:extLst>
          </p:cNvPr>
          <p:cNvSpPr/>
          <p:nvPr/>
        </p:nvSpPr>
        <p:spPr>
          <a:xfrm>
            <a:off x="-238532" y="6376663"/>
            <a:ext cx="84721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629F518-57E2-E49A-6351-6F551B583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376662"/>
            <a:ext cx="459462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CAB8DBE-3087-28DD-0FB8-BA09AB100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07" y="6502430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733F11-AE15-E80A-CC01-1A38DA7A9782}"/>
              </a:ext>
            </a:extLst>
          </p:cNvPr>
          <p:cNvSpPr txBox="1"/>
          <p:nvPr/>
        </p:nvSpPr>
        <p:spPr>
          <a:xfrm>
            <a:off x="333955" y="298118"/>
            <a:ext cx="3919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REGOLARIZZAZIONE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C8207CB-7435-DEBD-541A-DE867C80F2F4}"/>
              </a:ext>
            </a:extLst>
          </p:cNvPr>
          <p:cNvSpPr txBox="1"/>
          <p:nvPr/>
        </p:nvSpPr>
        <p:spPr>
          <a:xfrm>
            <a:off x="333955" y="1081377"/>
            <a:ext cx="469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Regolarizzatore</a:t>
            </a:r>
            <a:r>
              <a:rPr lang="it-IT" b="1" dirty="0"/>
              <a:t> di Rauch-Tung-</a:t>
            </a:r>
            <a:r>
              <a:rPr lang="it-IT" b="1" dirty="0" err="1"/>
              <a:t>Striebel</a:t>
            </a:r>
            <a:r>
              <a:rPr lang="it-IT" b="1" dirty="0"/>
              <a:t>(RTS)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7CBDB57-28F7-9C45-0FA0-0554BC687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84" y="1833858"/>
            <a:ext cx="4249732" cy="383056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AC1ECC2-C0A1-4068-9A38-470343769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541" y="1833859"/>
            <a:ext cx="4373485" cy="394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925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670</Words>
  <Application>Microsoft Office PowerPoint</Application>
  <PresentationFormat>Presentazione su schermo (4:3)</PresentationFormat>
  <Paragraphs>169</Paragraphs>
  <Slides>60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60</vt:i4>
      </vt:variant>
    </vt:vector>
  </HeadingPairs>
  <TitlesOfParts>
    <vt:vector size="63" baseType="lpstr"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Ufficio Comunicazione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dcasfasf</dc:title>
  <dc:creator>Bruno Sereni</dc:creator>
  <cp:lastModifiedBy>Piero Campitelli</cp:lastModifiedBy>
  <cp:revision>7</cp:revision>
  <dcterms:created xsi:type="dcterms:W3CDTF">2015-08-31T13:52:36Z</dcterms:created>
  <dcterms:modified xsi:type="dcterms:W3CDTF">2025-11-26T12:34:56Z</dcterms:modified>
</cp:coreProperties>
</file>